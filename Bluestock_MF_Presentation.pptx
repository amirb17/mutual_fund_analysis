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3E6E91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389120"/>
            <a:ext cx="4572000" cy="4572000"/>
          </a:xfrm>
          <a:prstGeom prst="ellipse">
            <a:avLst/>
          </a:prstGeom>
          <a:solidFill>
            <a:srgbClr val="C8A24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•  CAPSTONE PROJECT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Fund Analytics, Risk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 &amp; Business Intelligence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analytics pipeline: data ingestion, EDA, performance &amp;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analytics, and an interactive Power BI dashboard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5074920"/>
            <a:ext cx="2743200" cy="0"/>
          </a:xfrm>
          <a:prstGeom prst="line">
            <a:avLst/>
          </a:prstGeom>
          <a:noFill/>
          <a:ln w="25400">
            <a:solidFill>
              <a:srgbClr val="C8A2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3035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Amir Bensekar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AAB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Intern, Bluestock Fintech  |  MCA, MES IMCC Pune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6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fragmented mutual fund data into investable insight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577840" cy="4846320"/>
          </a:xfrm>
          <a:prstGeom prst="rect">
            <a:avLst/>
          </a:prstGeom>
          <a:solidFill>
            <a:srgbClr val="EAF1F7"/>
          </a:solidFill>
          <a:ln/>
          <a:effectLst>
            <a:outerShdw sx="100000" sy="100000" kx="0" ky="0" algn="bl" rotWithShape="0" blurRad="76200" dist="25400" dir="5400000">
              <a:srgbClr val="B7C7D6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00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49377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data is scattered across NAV feeds, AMFI statistics, portfolio holdings and investor records — hard to compare on a like-for-like, risk-adjusted basis.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and analysts need a single view of performance, risk, and investor behaviour to make informed decisions.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structured pipeline, insights stay siloed in spreadsheets and one-off scripts.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371600"/>
            <a:ext cx="5349240" cy="484632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76200" dist="25400" dir="5400000">
              <a:srgbClr val="B7C7D6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29400" y="1600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29400" y="2057400"/>
            <a:ext cx="47548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scalable, reproducible analytics pipeline for MF data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fund performance via return &amp; risk metrics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SIP and investor behaviour patterns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downside risk (VaR, CVaR, drawdown)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interactive BI dashboards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risk-adjusted fund recommendations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MF Capstone  |  Amir Bensekar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6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datasets, ~80,000 records, 1 unified warehouse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EAF1F7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545336"/>
            <a:ext cx="548640" cy="54864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5453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44475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Master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78308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40-scheme reference data (AMC, category, expense ratio, risk)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432304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EAF1F7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2606040"/>
            <a:ext cx="548640" cy="54864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50545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History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2843784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MFAPI data, 6 schemes, Jan 2022–May 2026 (~46K rows)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493008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EAF1F7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3666744"/>
            <a:ext cx="548640" cy="54864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6667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5661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by Fund House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3904488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AMC-level Assets Under Management over time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553712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EAF1F7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4727448"/>
            <a:ext cx="548640" cy="54864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4727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462686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SIP Inflows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4965192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SIP inflow, accounts, AUM, YoY growth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614416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EAF1F7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" y="5788152"/>
            <a:ext cx="548640" cy="54864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5788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17320" y="568756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Inflows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17320" y="6025896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net fund flows by category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17920" y="1371600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EAF1F7"/>
          </a:solidFill>
          <a:ln/>
        </p:spPr>
      </p:sp>
      <p:sp>
        <p:nvSpPr>
          <p:cNvPr id="30" name="Shape 28"/>
          <p:cNvSpPr/>
          <p:nvPr/>
        </p:nvSpPr>
        <p:spPr>
          <a:xfrm>
            <a:off x="6382512" y="1545336"/>
            <a:ext cx="548640" cy="54864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31" name="Text 29"/>
          <p:cNvSpPr/>
          <p:nvPr/>
        </p:nvSpPr>
        <p:spPr>
          <a:xfrm>
            <a:off x="6382512" y="15453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86600" y="144475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Folio Count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086600" y="178308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/ equity / debt / hybrid folio trends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17920" y="2432304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EAF1F7"/>
          </a:solidFill>
          <a:ln/>
        </p:spPr>
      </p:sp>
      <p:sp>
        <p:nvSpPr>
          <p:cNvPr id="35" name="Shape 33"/>
          <p:cNvSpPr/>
          <p:nvPr/>
        </p:nvSpPr>
        <p:spPr>
          <a:xfrm>
            <a:off x="6382512" y="2606040"/>
            <a:ext cx="548640" cy="54864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36" name="Text 34"/>
          <p:cNvSpPr/>
          <p:nvPr/>
        </p:nvSpPr>
        <p:spPr>
          <a:xfrm>
            <a:off x="6382512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086600" y="250545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Performance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086600" y="2843784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Returns, alpha, beta, Sharpe/Sortino for 40 schemes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17920" y="3493008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EAF1F7"/>
          </a:solidFill>
          <a:ln/>
        </p:spPr>
      </p:sp>
      <p:sp>
        <p:nvSpPr>
          <p:cNvPr id="40" name="Shape 38"/>
          <p:cNvSpPr/>
          <p:nvPr/>
        </p:nvSpPr>
        <p:spPr>
          <a:xfrm>
            <a:off x="6382512" y="3666744"/>
            <a:ext cx="548640" cy="54864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41" name="Text 39"/>
          <p:cNvSpPr/>
          <p:nvPr/>
        </p:nvSpPr>
        <p:spPr>
          <a:xfrm>
            <a:off x="6382512" y="36667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086600" y="35661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Transactions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086600" y="3904488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~32,800 SIP / Lumpsum / Redemption records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17920" y="4553712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EAF1F7"/>
          </a:solidFill>
          <a:ln/>
        </p:spPr>
      </p:sp>
      <p:sp>
        <p:nvSpPr>
          <p:cNvPr id="45" name="Shape 43"/>
          <p:cNvSpPr/>
          <p:nvPr/>
        </p:nvSpPr>
        <p:spPr>
          <a:xfrm>
            <a:off x="6382512" y="4727448"/>
            <a:ext cx="548640" cy="54864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46" name="Text 44"/>
          <p:cNvSpPr/>
          <p:nvPr/>
        </p:nvSpPr>
        <p:spPr>
          <a:xfrm>
            <a:off x="6382512" y="4727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086600" y="462686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Holdings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086600" y="4965192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Stock-level holdings, sector &amp; weight per scheme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217920" y="5614416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EAF1F7"/>
          </a:solidFill>
          <a:ln/>
        </p:spPr>
      </p:sp>
      <p:sp>
        <p:nvSpPr>
          <p:cNvPr id="50" name="Shape 48"/>
          <p:cNvSpPr/>
          <p:nvPr/>
        </p:nvSpPr>
        <p:spPr>
          <a:xfrm>
            <a:off x="6382512" y="5788152"/>
            <a:ext cx="548640" cy="54864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51" name="Text 49"/>
          <p:cNvSpPr/>
          <p:nvPr/>
        </p:nvSpPr>
        <p:spPr>
          <a:xfrm>
            <a:off x="6382512" y="5788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086600" y="568756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Indices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7086600" y="6025896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benchmark index levels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MF Capstone  |  Amir Bensekar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6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CSVs and live NAV feeds to a star-schema warehouse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673352" cy="2103120"/>
          </a:xfrm>
          <a:prstGeom prst="roundRect">
            <a:avLst>
              <a:gd name="adj" fmla="val 4372"/>
            </a:avLst>
          </a:prstGeom>
          <a:solidFill>
            <a:srgbClr val="1A3A5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57400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Ingestion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14904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raw CSVs + live MFAPI NAV pulls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03704" y="2862072"/>
            <a:ext cx="256032" cy="219456"/>
          </a:xfrm>
          <a:prstGeom prst="rightArrow">
            <a:avLst/>
          </a:prstGeom>
          <a:solidFill>
            <a:srgbClr val="B7C7D6"/>
          </a:solidFill>
          <a:ln/>
        </p:spPr>
      </p:sp>
      <p:sp>
        <p:nvSpPr>
          <p:cNvPr id="8" name="Shape 6"/>
          <p:cNvSpPr/>
          <p:nvPr/>
        </p:nvSpPr>
        <p:spPr>
          <a:xfrm>
            <a:off x="2441448" y="1920240"/>
            <a:ext cx="1673352" cy="2103120"/>
          </a:xfrm>
          <a:prstGeom prst="roundRect">
            <a:avLst>
              <a:gd name="adj" fmla="val 4372"/>
            </a:avLst>
          </a:prstGeom>
          <a:solidFill>
            <a:srgbClr val="3E6E91"/>
          </a:solidFill>
          <a:ln/>
        </p:spPr>
      </p:sp>
      <p:sp>
        <p:nvSpPr>
          <p:cNvPr id="9" name="Text 7"/>
          <p:cNvSpPr/>
          <p:nvPr/>
        </p:nvSpPr>
        <p:spPr>
          <a:xfrm>
            <a:off x="2532888" y="2057400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Cleaning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32888" y="2514600"/>
            <a:ext cx="14904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casts, de-dup, validation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clean_*.csv + SQLite DB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096512" y="2862072"/>
            <a:ext cx="256032" cy="219456"/>
          </a:xfrm>
          <a:prstGeom prst="rightArrow">
            <a:avLst/>
          </a:prstGeom>
          <a:solidFill>
            <a:srgbClr val="B7C7D6"/>
          </a:solidFill>
          <a:ln/>
        </p:spPr>
      </p:sp>
      <p:sp>
        <p:nvSpPr>
          <p:cNvPr id="12" name="Shape 10"/>
          <p:cNvSpPr/>
          <p:nvPr/>
        </p:nvSpPr>
        <p:spPr>
          <a:xfrm>
            <a:off x="4334256" y="1920240"/>
            <a:ext cx="1673352" cy="2103120"/>
          </a:xfrm>
          <a:prstGeom prst="roundRect">
            <a:avLst>
              <a:gd name="adj" fmla="val 4372"/>
            </a:avLst>
          </a:prstGeom>
          <a:solidFill>
            <a:srgbClr val="1A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4425696" y="2057400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EDA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25696" y="2514600"/>
            <a:ext cx="14904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visualizations across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&amp; demographics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89320" y="2862072"/>
            <a:ext cx="256032" cy="219456"/>
          </a:xfrm>
          <a:prstGeom prst="rightArrow">
            <a:avLst/>
          </a:prstGeom>
          <a:solidFill>
            <a:srgbClr val="B7C7D6"/>
          </a:solidFill>
          <a:ln/>
        </p:spPr>
      </p:sp>
      <p:sp>
        <p:nvSpPr>
          <p:cNvPr id="16" name="Shape 14"/>
          <p:cNvSpPr/>
          <p:nvPr/>
        </p:nvSpPr>
        <p:spPr>
          <a:xfrm>
            <a:off x="6227064" y="1920240"/>
            <a:ext cx="1673352" cy="2103120"/>
          </a:xfrm>
          <a:prstGeom prst="roundRect">
            <a:avLst>
              <a:gd name="adj" fmla="val 4372"/>
            </a:avLst>
          </a:prstGeom>
          <a:solidFill>
            <a:srgbClr val="3E6E91"/>
          </a:solidFill>
          <a:ln/>
        </p:spPr>
      </p:sp>
      <p:sp>
        <p:nvSpPr>
          <p:cNvPr id="17" name="Text 15"/>
          <p:cNvSpPr/>
          <p:nvPr/>
        </p:nvSpPr>
        <p:spPr>
          <a:xfrm>
            <a:off x="6318504" y="2057400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Performance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18504" y="2514600"/>
            <a:ext cx="14904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CAGR, Sharpe, Sortino,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alpha/beta, Scorecard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882128" y="2862072"/>
            <a:ext cx="256032" cy="219456"/>
          </a:xfrm>
          <a:prstGeom prst="rightArrow">
            <a:avLst/>
          </a:prstGeom>
          <a:solidFill>
            <a:srgbClr val="B7C7D6"/>
          </a:solidFill>
          <a:ln/>
        </p:spPr>
      </p:sp>
      <p:sp>
        <p:nvSpPr>
          <p:cNvPr id="20" name="Shape 18"/>
          <p:cNvSpPr/>
          <p:nvPr/>
        </p:nvSpPr>
        <p:spPr>
          <a:xfrm>
            <a:off x="8119872" y="1920240"/>
            <a:ext cx="1673352" cy="2103120"/>
          </a:xfrm>
          <a:prstGeom prst="roundRect">
            <a:avLst>
              <a:gd name="adj" fmla="val 4372"/>
            </a:avLst>
          </a:prstGeom>
          <a:solidFill>
            <a:srgbClr val="1A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8211312" y="2057400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Risk Analytics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11312" y="2514600"/>
            <a:ext cx="14904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VaR, CVaR, rolling Sharpe,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HHI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774936" y="2862072"/>
            <a:ext cx="256032" cy="219456"/>
          </a:xfrm>
          <a:prstGeom prst="rightArrow">
            <a:avLst/>
          </a:prstGeom>
          <a:solidFill>
            <a:srgbClr val="B7C7D6"/>
          </a:solidFill>
          <a:ln/>
        </p:spPr>
      </p:sp>
      <p:sp>
        <p:nvSpPr>
          <p:cNvPr id="24" name="Shape 22"/>
          <p:cNvSpPr/>
          <p:nvPr/>
        </p:nvSpPr>
        <p:spPr>
          <a:xfrm>
            <a:off x="10012680" y="1920240"/>
            <a:ext cx="1673352" cy="2103120"/>
          </a:xfrm>
          <a:prstGeom prst="roundRect">
            <a:avLst>
              <a:gd name="adj" fmla="val 4372"/>
            </a:avLst>
          </a:prstGeom>
          <a:solidFill>
            <a:srgbClr val="C8A24A"/>
          </a:solidFill>
          <a:ln/>
        </p:spPr>
      </p:sp>
      <p:sp>
        <p:nvSpPr>
          <p:cNvPr id="25" name="Text 23"/>
          <p:cNvSpPr/>
          <p:nvPr/>
        </p:nvSpPr>
        <p:spPr>
          <a:xfrm>
            <a:off x="10104120" y="2057400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BI &amp; Reco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104120" y="2514600"/>
            <a:ext cx="14904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+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4389120"/>
            <a:ext cx="11064240" cy="1463040"/>
          </a:xfrm>
          <a:prstGeom prst="rect">
            <a:avLst/>
          </a:prstGeom>
          <a:solidFill>
            <a:srgbClr val="EAF1F7"/>
          </a:solidFill>
          <a:ln/>
        </p:spPr>
        <p:txBody>
          <a:bodyPr wrap="square" lIns="203200" tIns="203200" rIns="203200" bIns="20320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run_pipeline.py orchestrates stages 1–5 end-to-end with a single command, ensuring EDA, performance, and risk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are always derived from a freshly cleaned dataset. Cleaned data is stored in a SQLite star-schema warehouse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(dim_fund, fact_nav, fact_transactions, fact_performance) that powers SQL analytics and the Power BI dashboard.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MF Capstone  |  Amir Bensekar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6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HIGHLIGHTS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 trends, fund universe &amp; category-level returns</a:t>
            </a:r>
            <a:endParaRPr lang="en-US" sz="3000" dirty="0"/>
          </a:p>
        </p:txBody>
      </p:sp>
      <p:pic>
        <p:nvPicPr>
          <p:cNvPr id="4" name="Image 0" descr="/home/claude/Mutual_Fund_Analysis/reports/EDA_Report_images/NAV_growth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86400" cy="3739896"/>
          </a:xfrm>
          <a:prstGeom prst="rect">
            <a:avLst/>
          </a:prstGeom>
        </p:spPr>
      </p:pic>
      <p:pic>
        <p:nvPicPr>
          <p:cNvPr id="5" name="Image 1" descr="/home/claude/Mutual_Fund_Analysis/reports/EDA_Report_images/Funds_category_wise_5yr_retur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371600"/>
            <a:ext cx="5394960" cy="31455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5257800"/>
            <a:ext cx="11109960" cy="1051560"/>
          </a:xfrm>
          <a:prstGeom prst="rect">
            <a:avLst/>
          </a:prstGeom>
          <a:solidFill>
            <a:srgbClr val="EAF1F7"/>
          </a:solidFill>
          <a:ln/>
        </p:spPr>
      </p:sp>
      <p:sp>
        <p:nvSpPr>
          <p:cNvPr id="7" name="Text 3"/>
          <p:cNvSpPr/>
          <p:nvPr/>
        </p:nvSpPr>
        <p:spPr>
          <a:xfrm>
            <a:off x="777240" y="53492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tracked large-cap schemes show steady NAV growth (2022–26) with a mid-period drawdown and recovery.   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Cap (21.9%) and Mid Cap (17.5%) lead 5-year category returns; debt categories cluster at 6–7%.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MF Capstone  |  Amir Bensekar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6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HIGHLIGHTS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SIP momentum, investor demographics &amp; sector mix</a:t>
            </a:r>
            <a:endParaRPr lang="en-US" sz="3000" dirty="0"/>
          </a:p>
        </p:txBody>
      </p:sp>
      <p:pic>
        <p:nvPicPr>
          <p:cNvPr id="4" name="Image 0" descr="/home/claude/Mutual_Fund_Analysis/reports/EDA_Report_images/Sip_in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4160520" cy="2834640"/>
          </a:xfrm>
          <a:prstGeom prst="rect">
            <a:avLst/>
          </a:prstGeom>
        </p:spPr>
      </p:pic>
      <p:pic>
        <p:nvPicPr>
          <p:cNvPr id="5" name="Image 1" descr="/home/claude/Mutual_Fund_Analysis/reports/EDA_Report_images/Tier_city_pie_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71600"/>
            <a:ext cx="3291840" cy="3127248"/>
          </a:xfrm>
          <a:prstGeom prst="rect">
            <a:avLst/>
          </a:prstGeom>
        </p:spPr>
      </p:pic>
      <p:pic>
        <p:nvPicPr>
          <p:cNvPr id="6" name="Image 2" descr="/home/claude/Mutual_Fund_Analysis/reports/EDA_Report_images/Sector_allocation_donu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371600"/>
            <a:ext cx="3291840" cy="2798064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48640" y="4434840"/>
            <a:ext cx="11109960" cy="1874520"/>
          </a:xfrm>
          <a:prstGeom prst="rect">
            <a:avLst/>
          </a:prstGeom>
          <a:solidFill>
            <a:srgbClr val="EAF1F7"/>
          </a:solidFill>
          <a:ln/>
        </p:spPr>
      </p:sp>
      <p:sp>
        <p:nvSpPr>
          <p:cNvPr id="8" name="Text 3"/>
          <p:cNvSpPr/>
          <p:nvPr/>
        </p:nvSpPr>
        <p:spPr>
          <a:xfrm>
            <a:off x="777240" y="4526280"/>
            <a:ext cx="106984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SIP inflows trend steadily upward with positive YoY growth — systematic investing keeps gaining share.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 cities lead investor count, but Tier-2/3 contribute a meaningful and growing share — deepening retail penetration.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portfolio holdings are diversified across sectors, with a few schemes showing higher single-sector concentration (see HHI, next).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MF Capstone  |  Amir Bensekar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6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 Scorecard — top ranked schemes (risk-adjusted)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06984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657600"/>
                <a:gridCol w="1463040"/>
                <a:gridCol w="1371600"/>
                <a:gridCol w="1005840"/>
                <a:gridCol w="1463040"/>
                <a:gridCol w="10058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5Y Return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Grade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SBI Small Cap Fund (Direct)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Cap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21.82%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Kotak Flexicap Fund (Regular)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 Cap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13.50%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Mod. 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Kotak Emerging Equity (Regular)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 Cap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17.75%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ABSL Small Cap Fund (Regular)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Cap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23.80%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SBI Small Cap Fund (Regular)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Cap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20.67%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709160"/>
            <a:ext cx="11109960" cy="1600200"/>
          </a:xfrm>
          <a:prstGeom prst="rect">
            <a:avLst/>
          </a:prstGeom>
          <a:solidFill>
            <a:srgbClr val="EAF1F7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48006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Cap and Flexi Cap schemes dominate the top of a composite 0–100 scorecard blending 5Y return, Sharpe, alpha, expense ratio and drawdown ranks.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averages: Small Cap 5Y return 21.9% (Sharpe 0.87); Flexi Cap 14.6% (Sharpe 0.97); Large Cap 13.3% (Sharpe 0.93).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/ Short Duration debt funds show very high Sharpe (6.33 / 1.84) due to extremely low volatility — a capital-preservation profile, not high absolute return.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MF Capstone  |  Amir Bensekar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6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analytics — VaR, CVaR, alpha/beta &amp; concentration</a:t>
            </a:r>
            <a:endParaRPr lang="en-US" sz="3000" dirty="0"/>
          </a:p>
        </p:txBody>
      </p:sp>
      <p:pic>
        <p:nvPicPr>
          <p:cNvPr id="4" name="Image 0" descr="/home/claude/work/rolling_sharpe_chart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669280" cy="3200400"/>
          </a:xfrm>
          <a:prstGeom prst="rect">
            <a:avLst/>
          </a:prstGeom>
        </p:spPr>
      </p:pic>
      <p:pic>
        <p:nvPicPr>
          <p:cNvPr id="5" name="Image 1" descr="/home/claude/Mutual_Fund_Analysis/reports/benchmark_comparis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257800" cy="32004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4754880"/>
            <a:ext cx="2697480" cy="1417320"/>
          </a:xfrm>
          <a:prstGeom prst="roundRect">
            <a:avLst>
              <a:gd name="adj" fmla="val 3871"/>
            </a:avLst>
          </a:prstGeom>
          <a:solidFill>
            <a:srgbClr val="1A3A5C"/>
          </a:solidFill>
          <a:ln/>
        </p:spPr>
      </p:sp>
      <p:sp>
        <p:nvSpPr>
          <p:cNvPr id="7" name="Text 3"/>
          <p:cNvSpPr/>
          <p:nvPr/>
        </p:nvSpPr>
        <p:spPr>
          <a:xfrm>
            <a:off x="548640" y="486460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-1.47%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548640" y="5468112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1-Day VaR (95%)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3410712" y="4754880"/>
            <a:ext cx="2697480" cy="1417320"/>
          </a:xfrm>
          <a:prstGeom prst="roundRect">
            <a:avLst>
              <a:gd name="adj" fmla="val 3871"/>
            </a:avLst>
          </a:prstGeom>
          <a:solidFill>
            <a:srgbClr val="1A3A5C"/>
          </a:solidFill>
          <a:ln/>
        </p:spPr>
      </p:sp>
      <p:sp>
        <p:nvSpPr>
          <p:cNvPr id="10" name="Text 6"/>
          <p:cNvSpPr/>
          <p:nvPr/>
        </p:nvSpPr>
        <p:spPr>
          <a:xfrm>
            <a:off x="3410712" y="486460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-1.86%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3410712" y="5468112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1-Day CVaR (95%)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272784" y="4754880"/>
            <a:ext cx="2697480" cy="1417320"/>
          </a:xfrm>
          <a:prstGeom prst="roundRect">
            <a:avLst>
              <a:gd name="adj" fmla="val 3871"/>
            </a:avLst>
          </a:prstGeom>
          <a:solidFill>
            <a:srgbClr val="1A3A5C"/>
          </a:solidFill>
          <a:ln/>
        </p:spPr>
      </p:sp>
      <p:sp>
        <p:nvSpPr>
          <p:cNvPr id="13" name="Text 9"/>
          <p:cNvSpPr/>
          <p:nvPr/>
        </p:nvSpPr>
        <p:spPr>
          <a:xfrm>
            <a:off x="6272784" y="486460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+15.9%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6272784" y="5468112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Alpha vs Benchmark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9134856" y="4754880"/>
            <a:ext cx="2697480" cy="1417320"/>
          </a:xfrm>
          <a:prstGeom prst="roundRect">
            <a:avLst>
              <a:gd name="adj" fmla="val 3871"/>
            </a:avLst>
          </a:prstGeom>
          <a:solidFill>
            <a:srgbClr val="1A3A5C"/>
          </a:solidFill>
          <a:ln/>
        </p:spPr>
      </p:sp>
      <p:sp>
        <p:nvSpPr>
          <p:cNvPr id="16" name="Text 12"/>
          <p:cNvSpPr/>
          <p:nvPr/>
        </p:nvSpPr>
        <p:spPr>
          <a:xfrm>
            <a:off x="9134856" y="486460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0.206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9134856" y="5468112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Sector HHI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(Axis Bluechip)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MF Capstone  |  Amir Bensekar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6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— Industry Overview &amp; Fund Performance</a:t>
            </a:r>
            <a:endParaRPr lang="en-US" sz="3000" dirty="0"/>
          </a:p>
        </p:txBody>
      </p:sp>
      <p:pic>
        <p:nvPicPr>
          <p:cNvPr id="4" name="Image 0" descr="/home/claude/Mutual_Fund_Analysis/reports/Dashboards Images/P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486400" cy="3154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6634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Overview — AUM trends, SIP inflows, fund-house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and headline industry KPIs</a:t>
            </a:r>
            <a:endParaRPr lang="en-US" sz="1300" dirty="0"/>
          </a:p>
        </p:txBody>
      </p:sp>
      <p:pic>
        <p:nvPicPr>
          <p:cNvPr id="6" name="Image 1" descr="/home/claude/Mutual_Fund_Analysis/reports/Dashboards Images/P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17320"/>
            <a:ext cx="5394960" cy="31089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63640" y="46634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Performance — risk vs. return, fund scorecard,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comparison and performance ranking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MF Capstone  |  Amir Bensekar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6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— Investor Analytics &amp; SIP/Market Trends</a:t>
            </a:r>
            <a:endParaRPr lang="en-US" sz="3000" dirty="0"/>
          </a:p>
        </p:txBody>
      </p:sp>
      <p:pic>
        <p:nvPicPr>
          <p:cNvPr id="4" name="Image 0" descr="/home/claude/Mutual_Fund_Analysis/reports/Dashboards Images/P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486400" cy="31455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6634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Analytics — demographics, geographic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and transaction insights</a:t>
            </a:r>
            <a:endParaRPr lang="en-US" sz="1300" dirty="0"/>
          </a:p>
        </p:txBody>
      </p:sp>
      <p:pic>
        <p:nvPicPr>
          <p:cNvPr id="6" name="Image 1" descr="/home/claude/Mutual_Fund_Analysis/reports/Dashboards Images/P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17320"/>
            <a:ext cx="5394960" cy="30998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63640" y="46634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&amp; Market Trends — SIP inflow vs. Nifty, category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inflow heatmaps and market trend analysis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MF Capstone  |  Amir Bensekar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tells 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11880" cy="2194560"/>
          </a:xfrm>
          <a:prstGeom prst="roundRect">
            <a:avLst>
              <a:gd name="adj" fmla="val 2500"/>
            </a:avLst>
          </a:prstGeom>
          <a:solidFill>
            <a:srgbClr val="27486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Risk-Return Ladder Holds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Cap (21.9%) &gt; Mid Cap (17.5%) &gt; Large Cap (13.3%) &gt; Debt (6–7%) on 5-year returns — with volatility rising in step.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3611880" cy="2194560"/>
          </a:xfrm>
          <a:prstGeom prst="roundRect">
            <a:avLst>
              <a:gd name="adj" fmla="val 2500"/>
            </a:avLst>
          </a:prstGeom>
          <a:solidFill>
            <a:srgbClr val="27486B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1554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26280" y="19659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Scorecard Leaders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26280" y="246888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Small Cap (Direct), Kotak Flexicap, and Kotak Emerging Equity top the risk-adjusted Fund Scorecard.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417320"/>
            <a:ext cx="3611880" cy="2194560"/>
          </a:xfrm>
          <a:prstGeom prst="roundRect">
            <a:avLst>
              <a:gd name="adj" fmla="val 2500"/>
            </a:avLst>
          </a:prstGeom>
          <a:solidFill>
            <a:srgbClr val="27486B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1554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21040" y="19659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Momentum Continues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21040" y="246888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SIP inflows and folio counts trend upward across Tier-1/2/3 cities — systematic investing is broad-based.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3611880" cy="2194560"/>
          </a:xfrm>
          <a:prstGeom prst="roundRect">
            <a:avLst>
              <a:gd name="adj" fmla="val 2500"/>
            </a:avLst>
          </a:prstGeom>
          <a:solidFill>
            <a:srgbClr val="27486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931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43434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Risk Is Quantified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31520" y="484632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1-day VaR(95%) of -1.47% and CVaR of -1.86% across 40 schemes give a concrete downside-risk baseline.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43400" y="3794760"/>
            <a:ext cx="3611880" cy="2194560"/>
          </a:xfrm>
          <a:prstGeom prst="roundRect">
            <a:avLst>
              <a:gd name="adj" fmla="val 2500"/>
            </a:avLst>
          </a:prstGeom>
          <a:solidFill>
            <a:srgbClr val="27486B"/>
          </a:solidFill>
          <a:ln/>
        </p:spPr>
      </p:sp>
      <p:sp>
        <p:nvSpPr>
          <p:cNvPr id="21" name="Text 19"/>
          <p:cNvSpPr/>
          <p:nvPr/>
        </p:nvSpPr>
        <p:spPr>
          <a:xfrm>
            <a:off x="4526280" y="3931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26280" y="43434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Flags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526280" y="484632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Bluechip and similar large-cap mandates show the highest sector HHI — a diversification signal for investors.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38160" y="3794760"/>
            <a:ext cx="3611880" cy="2194560"/>
          </a:xfrm>
          <a:prstGeom prst="roundRect">
            <a:avLst>
              <a:gd name="adj" fmla="val 2500"/>
            </a:avLst>
          </a:prstGeom>
          <a:solidFill>
            <a:srgbClr val="27486B"/>
          </a:solidFill>
          <a:ln/>
        </p:spPr>
      </p:sp>
      <p:sp>
        <p:nvSpPr>
          <p:cNvPr id="25" name="Text 23"/>
          <p:cNvSpPr/>
          <p:nvPr/>
        </p:nvSpPr>
        <p:spPr>
          <a:xfrm>
            <a:off x="8321040" y="3931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321040" y="43434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 Works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321040" y="484632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risk-grade + Sharpe filter reliably surfaces a top-3 shortlist per risk appetite, ready for productization.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MF Capstone  |  Amir Bensekar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3E6E91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4114800"/>
            <a:ext cx="5029200" cy="5029200"/>
          </a:xfrm>
          <a:prstGeom prst="ellipse">
            <a:avLst/>
          </a:prstGeom>
          <a:solidFill>
            <a:srgbClr val="C8A24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777240" y="3611880"/>
            <a:ext cx="2743200" cy="0"/>
          </a:xfrm>
          <a:prstGeom prst="line">
            <a:avLst/>
          </a:prstGeom>
          <a:noFill/>
          <a:ln w="25400">
            <a:solidFill>
              <a:srgbClr val="C8A2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84048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Amir Bensekar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Intern, Bluestock Fintech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github.com/amirb17/Mutual_Fund_Analysis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MF Capstone</dc:title>
  <dc:subject>PptxGenJS Presentation</dc:subject>
  <dc:creator>Amir Bensekar</dc:creator>
  <cp:lastModifiedBy>Amir Bensekar</cp:lastModifiedBy>
  <cp:revision>1</cp:revision>
  <dcterms:created xsi:type="dcterms:W3CDTF">2026-06-13T01:41:46Z</dcterms:created>
  <dcterms:modified xsi:type="dcterms:W3CDTF">2026-06-13T01:41:46Z</dcterms:modified>
</cp:coreProperties>
</file>